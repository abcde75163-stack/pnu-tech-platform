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2556" y="-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1AAF0-D4E9-4268-ADEA-433EE662026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B079-9712-4E95-8076-C43FEFC8A0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06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1AAF0-D4E9-4268-ADEA-433EE662026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B079-9712-4E95-8076-C43FEFC8A0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74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1AAF0-D4E9-4268-ADEA-433EE662026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B079-9712-4E95-8076-C43FEFC8A0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400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1AAF0-D4E9-4268-ADEA-433EE662026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B079-9712-4E95-8076-C43FEFC8A0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1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1AAF0-D4E9-4268-ADEA-433EE662026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B079-9712-4E95-8076-C43FEFC8A0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84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1AAF0-D4E9-4268-ADEA-433EE662026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B079-9712-4E95-8076-C43FEFC8A0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59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1AAF0-D4E9-4268-ADEA-433EE662026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B079-9712-4E95-8076-C43FEFC8A0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694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1AAF0-D4E9-4268-ADEA-433EE662026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B079-9712-4E95-8076-C43FEFC8A0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10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1AAF0-D4E9-4268-ADEA-433EE662026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B079-9712-4E95-8076-C43FEFC8A0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10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1AAF0-D4E9-4268-ADEA-433EE662026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B079-9712-4E95-8076-C43FEFC8A0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13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1AAF0-D4E9-4268-ADEA-433EE662026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B079-9712-4E95-8076-C43FEFC8A0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96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1AAF0-D4E9-4268-ADEA-433EE662026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DB079-9712-4E95-8076-C43FEFC8A0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717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4795D154-A41C-429C-9FBB-E07F315A8FB1}"/>
              </a:ext>
            </a:extLst>
          </p:cNvPr>
          <p:cNvGrpSpPr/>
          <p:nvPr/>
        </p:nvGrpSpPr>
        <p:grpSpPr>
          <a:xfrm>
            <a:off x="-1" y="0"/>
            <a:ext cx="6858002" cy="2394286"/>
            <a:chOff x="-1" y="0"/>
            <a:chExt cx="6858002" cy="2394286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568083C6-BB23-4A6C-B197-AB5214F4500D}"/>
                </a:ext>
              </a:extLst>
            </p:cNvPr>
            <p:cNvGrpSpPr/>
            <p:nvPr/>
          </p:nvGrpSpPr>
          <p:grpSpPr>
            <a:xfrm>
              <a:off x="-1" y="0"/>
              <a:ext cx="6858002" cy="2394286"/>
              <a:chOff x="-1" y="0"/>
              <a:chExt cx="6858002" cy="2394286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E1EDCFC-434B-4A02-9CB2-24DAC3AC5BFB}"/>
                  </a:ext>
                </a:extLst>
              </p:cNvPr>
              <p:cNvSpPr/>
              <p:nvPr/>
            </p:nvSpPr>
            <p:spPr>
              <a:xfrm>
                <a:off x="758435" y="0"/>
                <a:ext cx="6099565" cy="2394286"/>
              </a:xfrm>
              <a:prstGeom prst="rect">
                <a:avLst/>
              </a:prstGeom>
              <a:solidFill>
                <a:srgbClr val="E0E2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4DF7C2AD-1B83-490D-8BD4-F839CB5EBEB9}"/>
                  </a:ext>
                </a:extLst>
              </p:cNvPr>
              <p:cNvGrpSpPr/>
              <p:nvPr/>
            </p:nvGrpSpPr>
            <p:grpSpPr>
              <a:xfrm>
                <a:off x="-1" y="363204"/>
                <a:ext cx="1419728" cy="733926"/>
                <a:chOff x="-1" y="363204"/>
                <a:chExt cx="1419728" cy="733926"/>
              </a:xfrm>
            </p:grpSpPr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D4E61AC6-6AC7-4B21-8768-B7EAFCFD51F7}"/>
                    </a:ext>
                  </a:extLst>
                </p:cNvPr>
                <p:cNvSpPr/>
                <p:nvPr/>
              </p:nvSpPr>
              <p:spPr>
                <a:xfrm>
                  <a:off x="758435" y="363204"/>
                  <a:ext cx="661292" cy="733926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642A3FD5-1959-49F4-A579-EF410401C9ED}"/>
                    </a:ext>
                  </a:extLst>
                </p:cNvPr>
                <p:cNvSpPr/>
                <p:nvPr/>
              </p:nvSpPr>
              <p:spPr>
                <a:xfrm>
                  <a:off x="-1" y="363204"/>
                  <a:ext cx="758435" cy="733926"/>
                </a:xfrm>
                <a:prstGeom prst="rect">
                  <a:avLst/>
                </a:prstGeom>
                <a:solidFill>
                  <a:srgbClr val="2858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09E52C8D-34B5-4BC1-BBD8-974181F98F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1447"/>
              <a:stretch/>
            </p:blipFill>
            <p:spPr>
              <a:xfrm rot="16200000">
                <a:off x="4620186" y="156468"/>
                <a:ext cx="2394284" cy="2081347"/>
              </a:xfrm>
              <a:prstGeom prst="rect">
                <a:avLst/>
              </a:prstGeom>
            </p:spPr>
          </p:pic>
        </p:grp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DB62103D-59A9-4803-8F1B-1FE20B3D5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54" y="413655"/>
              <a:ext cx="620324" cy="620324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80DB377-D8B5-4036-994F-21CDD1E86169}"/>
              </a:ext>
            </a:extLst>
          </p:cNvPr>
          <p:cNvSpPr txBox="1"/>
          <p:nvPr/>
        </p:nvSpPr>
        <p:spPr>
          <a:xfrm>
            <a:off x="1703137" y="293716"/>
            <a:ext cx="1786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PNU Tech Offer</a:t>
            </a:r>
            <a:endParaRPr lang="ko-KR" altLang="en-US" sz="1600" dirty="0">
              <a:solidFill>
                <a:schemeClr val="accent1">
                  <a:lumMod val="50000"/>
                </a:schemeClr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A319FA-B7C3-4251-BA33-97939C4422E1}"/>
              </a:ext>
            </a:extLst>
          </p:cNvPr>
          <p:cNvSpPr txBox="1"/>
          <p:nvPr/>
        </p:nvSpPr>
        <p:spPr>
          <a:xfrm>
            <a:off x="1692888" y="658643"/>
            <a:ext cx="4840259" cy="518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ko-KR" sz="2800" dirty="0">
                <a:solidFill>
                  <a:srgbClr val="00129A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{{</a:t>
            </a:r>
            <a:r>
              <a:rPr lang="ko-KR" altLang="en-US" sz="2800" dirty="0">
                <a:solidFill>
                  <a:srgbClr val="00129A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제목</a:t>
            </a:r>
            <a:r>
              <a:rPr lang="en-US" altLang="ko-KR" sz="2800" dirty="0">
                <a:solidFill>
                  <a:srgbClr val="00129A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(</a:t>
            </a:r>
            <a:r>
              <a:rPr lang="ko-KR" altLang="en-US" sz="2800" dirty="0">
                <a:solidFill>
                  <a:srgbClr val="00129A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쉬운 </a:t>
            </a:r>
            <a:r>
              <a:rPr lang="ko-KR" altLang="en-US" sz="2800" dirty="0" err="1">
                <a:solidFill>
                  <a:srgbClr val="00129A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기술카피라이팅</a:t>
            </a:r>
            <a:r>
              <a:rPr lang="en-US" altLang="ko-KR" sz="2800" dirty="0">
                <a:solidFill>
                  <a:srgbClr val="00129A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)}}</a:t>
            </a:r>
            <a:endParaRPr lang="ko-KR" altLang="en-US" sz="2800" dirty="0">
              <a:solidFill>
                <a:srgbClr val="00129A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FC3F19-74DF-4831-AC43-EAD05E1A3BAB}"/>
              </a:ext>
            </a:extLst>
          </p:cNvPr>
          <p:cNvSpPr txBox="1"/>
          <p:nvPr/>
        </p:nvSpPr>
        <p:spPr>
          <a:xfrm>
            <a:off x="1703137" y="1703608"/>
            <a:ext cx="4668252" cy="30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{{</a:t>
            </a:r>
            <a:r>
              <a:rPr lang="ko-KR" altLang="en-US" sz="1200" dirty="0" err="1">
                <a:solidFill>
                  <a:schemeClr val="accent1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기술명</a:t>
            </a: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요약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}}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74397B-1D08-4056-BB2E-65EA3E7B926B}"/>
              </a:ext>
            </a:extLst>
          </p:cNvPr>
          <p:cNvSpPr txBox="1"/>
          <p:nvPr/>
        </p:nvSpPr>
        <p:spPr>
          <a:xfrm>
            <a:off x="3367507" y="327063"/>
            <a:ext cx="32892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X  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부산대학교 소속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, </a:t>
            </a:r>
            <a:r>
              <a:rPr lang="ko-KR" altLang="en-US" sz="1100" dirty="0" err="1">
                <a:solidFill>
                  <a:schemeClr val="accent1">
                    <a:lumMod val="50000"/>
                  </a:schemeClr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교수명</a:t>
            </a:r>
            <a:endParaRPr lang="ko-KR" altLang="en-US" sz="1100" dirty="0">
              <a:solidFill>
                <a:schemeClr val="accent1">
                  <a:lumMod val="50000"/>
                </a:schemeClr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E73776-79EC-4B07-A246-E3B70EFCCDAB}"/>
              </a:ext>
            </a:extLst>
          </p:cNvPr>
          <p:cNvSpPr txBox="1"/>
          <p:nvPr/>
        </p:nvSpPr>
        <p:spPr>
          <a:xfrm>
            <a:off x="559717" y="583620"/>
            <a:ext cx="1097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{{</a:t>
            </a:r>
            <a:r>
              <a:rPr lang="ko-KR" altLang="en-US" sz="14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기술분류</a:t>
            </a:r>
            <a:r>
              <a:rPr lang="en-US" altLang="ko-KR" sz="14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}}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332070B-BDE8-44D7-8183-F674E9E88BB7}"/>
              </a:ext>
            </a:extLst>
          </p:cNvPr>
          <p:cNvGrpSpPr/>
          <p:nvPr/>
        </p:nvGrpSpPr>
        <p:grpSpPr>
          <a:xfrm>
            <a:off x="184480" y="2579845"/>
            <a:ext cx="561922" cy="1024168"/>
            <a:chOff x="184480" y="2579845"/>
            <a:chExt cx="561922" cy="102416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EB16F3A-C095-4080-9FB4-B8E1A71097E3}"/>
                </a:ext>
              </a:extLst>
            </p:cNvPr>
            <p:cNvSpPr txBox="1"/>
            <p:nvPr/>
          </p:nvSpPr>
          <p:spPr>
            <a:xfrm>
              <a:off x="184480" y="2649906"/>
              <a:ext cx="5619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2858A3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적용</a:t>
              </a:r>
              <a:endParaRPr lang="en-US" altLang="ko-KR" sz="1400" dirty="0">
                <a:solidFill>
                  <a:srgbClr val="2858A3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2858A3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분야</a:t>
              </a:r>
              <a:endParaRPr lang="en-US" altLang="ko-KR" sz="1400" dirty="0">
                <a:solidFill>
                  <a:srgbClr val="2858A3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  <a:p>
              <a:pPr algn="ctr"/>
              <a:r>
                <a:rPr lang="en-US" altLang="ko-KR" sz="1400" dirty="0">
                  <a:solidFill>
                    <a:srgbClr val="2858A3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·</a:t>
              </a:r>
            </a:p>
            <a:p>
              <a:pPr algn="ctr"/>
              <a:r>
                <a:rPr lang="ko-KR" altLang="en-US" sz="1400" dirty="0">
                  <a:solidFill>
                    <a:srgbClr val="2858A3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제품</a:t>
              </a:r>
              <a:endParaRPr lang="en-US" altLang="ko-KR" sz="1400" dirty="0">
                <a:solidFill>
                  <a:srgbClr val="2858A3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9789FB1A-23E7-4DB1-ABB7-A4A74D2F0579}"/>
                </a:ext>
              </a:extLst>
            </p:cNvPr>
            <p:cNvCxnSpPr>
              <a:cxnSpLocks/>
            </p:cNvCxnSpPr>
            <p:nvPr/>
          </p:nvCxnSpPr>
          <p:spPr>
            <a:xfrm>
              <a:off x="300506" y="2579845"/>
              <a:ext cx="329533" cy="0"/>
            </a:xfrm>
            <a:prstGeom prst="line">
              <a:avLst/>
            </a:prstGeom>
            <a:ln w="28575">
              <a:solidFill>
                <a:srgbClr val="2858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C97850F-60D7-4247-95AA-A172C9A3FF8C}"/>
              </a:ext>
            </a:extLst>
          </p:cNvPr>
          <p:cNvGrpSpPr/>
          <p:nvPr/>
        </p:nvGrpSpPr>
        <p:grpSpPr>
          <a:xfrm>
            <a:off x="196512" y="3917677"/>
            <a:ext cx="1134978" cy="593276"/>
            <a:chOff x="196512" y="3917677"/>
            <a:chExt cx="1134978" cy="59327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680BC7B-01F4-4B02-99F6-41AE5E95208B}"/>
                </a:ext>
              </a:extLst>
            </p:cNvPr>
            <p:cNvSpPr txBox="1"/>
            <p:nvPr/>
          </p:nvSpPr>
          <p:spPr>
            <a:xfrm>
              <a:off x="196512" y="3987733"/>
              <a:ext cx="11349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2858A3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기술</a:t>
              </a:r>
              <a:endParaRPr lang="en-US" altLang="ko-KR" sz="1400" dirty="0">
                <a:solidFill>
                  <a:srgbClr val="2858A3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  <a:p>
              <a:r>
                <a:rPr lang="ko-KR" altLang="en-US" sz="1400" dirty="0">
                  <a:solidFill>
                    <a:srgbClr val="2858A3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개요</a:t>
              </a: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79BF3399-D905-4992-80B1-C7E0B83DE9F2}"/>
                </a:ext>
              </a:extLst>
            </p:cNvPr>
            <p:cNvCxnSpPr>
              <a:cxnSpLocks/>
            </p:cNvCxnSpPr>
            <p:nvPr/>
          </p:nvCxnSpPr>
          <p:spPr>
            <a:xfrm>
              <a:off x="300506" y="3917677"/>
              <a:ext cx="329533" cy="0"/>
            </a:xfrm>
            <a:prstGeom prst="line">
              <a:avLst/>
            </a:prstGeom>
            <a:ln w="28575">
              <a:solidFill>
                <a:srgbClr val="2858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8D52482-83CE-4EEE-A8B1-34F23AEBE3B1}"/>
              </a:ext>
            </a:extLst>
          </p:cNvPr>
          <p:cNvGrpSpPr/>
          <p:nvPr/>
        </p:nvGrpSpPr>
        <p:grpSpPr>
          <a:xfrm>
            <a:off x="191502" y="5648485"/>
            <a:ext cx="1134978" cy="590254"/>
            <a:chOff x="191502" y="5648485"/>
            <a:chExt cx="1134978" cy="590254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E31EB4-6617-4CE1-A012-2D8DCE3E5B15}"/>
                </a:ext>
              </a:extLst>
            </p:cNvPr>
            <p:cNvSpPr txBox="1"/>
            <p:nvPr/>
          </p:nvSpPr>
          <p:spPr>
            <a:xfrm>
              <a:off x="191502" y="5715519"/>
              <a:ext cx="11349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2858A3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기술</a:t>
              </a:r>
              <a:endParaRPr lang="en-US" altLang="ko-KR" sz="1400" dirty="0">
                <a:solidFill>
                  <a:srgbClr val="2858A3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  <a:p>
              <a:r>
                <a:rPr lang="ko-KR" altLang="en-US" sz="1400" dirty="0">
                  <a:solidFill>
                    <a:srgbClr val="2858A3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경쟁력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FBB79C19-FEED-471C-8534-03605B475178}"/>
                </a:ext>
              </a:extLst>
            </p:cNvPr>
            <p:cNvCxnSpPr>
              <a:cxnSpLocks/>
            </p:cNvCxnSpPr>
            <p:nvPr/>
          </p:nvCxnSpPr>
          <p:spPr>
            <a:xfrm>
              <a:off x="295496" y="5648485"/>
              <a:ext cx="329533" cy="0"/>
            </a:xfrm>
            <a:prstGeom prst="line">
              <a:avLst/>
            </a:prstGeom>
            <a:ln w="28575">
              <a:solidFill>
                <a:srgbClr val="2858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220553F-9385-4242-BD4F-3AC338D48E7C}"/>
              </a:ext>
            </a:extLst>
          </p:cNvPr>
          <p:cNvGrpSpPr/>
          <p:nvPr/>
        </p:nvGrpSpPr>
        <p:grpSpPr>
          <a:xfrm>
            <a:off x="191502" y="9316802"/>
            <a:ext cx="1134978" cy="374188"/>
            <a:chOff x="191502" y="9316802"/>
            <a:chExt cx="1134978" cy="374188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1E1B9D6-CC75-40CE-BC02-9B776C2B3C99}"/>
                </a:ext>
              </a:extLst>
            </p:cNvPr>
            <p:cNvSpPr txBox="1"/>
            <p:nvPr/>
          </p:nvSpPr>
          <p:spPr>
            <a:xfrm>
              <a:off x="191502" y="9383213"/>
              <a:ext cx="1134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2858A3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문의처</a:t>
              </a: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6C510E59-DDB4-46D4-9F71-3E89432D96A0}"/>
                </a:ext>
              </a:extLst>
            </p:cNvPr>
            <p:cNvCxnSpPr>
              <a:cxnSpLocks/>
            </p:cNvCxnSpPr>
            <p:nvPr/>
          </p:nvCxnSpPr>
          <p:spPr>
            <a:xfrm>
              <a:off x="300506" y="9316802"/>
              <a:ext cx="473467" cy="0"/>
            </a:xfrm>
            <a:prstGeom prst="line">
              <a:avLst/>
            </a:prstGeom>
            <a:ln w="28575">
              <a:solidFill>
                <a:srgbClr val="2858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4B79289-21FB-4A6C-B956-2F81CC96ECC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310" y="2379321"/>
            <a:ext cx="1367994" cy="1367994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D71DF2CB-1335-4094-ABF5-3CC83C74BE4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020" y="2379321"/>
            <a:ext cx="1367994" cy="136799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A3443152-150A-45D0-836F-D83160FCE51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430" y="2394494"/>
            <a:ext cx="1367994" cy="1367994"/>
          </a:xfrm>
          <a:prstGeom prst="rect">
            <a:avLst/>
          </a:prstGeom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40BE45D4-2E0B-468C-865D-C4AEC984D926}"/>
              </a:ext>
            </a:extLst>
          </p:cNvPr>
          <p:cNvSpPr/>
          <p:nvPr/>
        </p:nvSpPr>
        <p:spPr>
          <a:xfrm>
            <a:off x="1540534" y="3302901"/>
            <a:ext cx="12955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{{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적용분야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1}}</a:t>
            </a:r>
            <a:endParaRPr lang="ko-KR" altLang="en-US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7EF4895-9C01-44E5-9EB6-3BD7E65593DA}"/>
              </a:ext>
            </a:extLst>
          </p:cNvPr>
          <p:cNvSpPr/>
          <p:nvPr/>
        </p:nvSpPr>
        <p:spPr>
          <a:xfrm>
            <a:off x="4554654" y="3321951"/>
            <a:ext cx="12955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{{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적용분야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2}}</a:t>
            </a:r>
            <a:endParaRPr lang="ko-KR" altLang="en-US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1F55AACE-A248-4282-8388-71325A8B69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 flipH="1">
            <a:off x="2813642" y="2959984"/>
            <a:ext cx="266347" cy="26634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AE2C1706-F72A-4EC1-967B-A8494A3F24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 flipH="1">
            <a:off x="4322811" y="2969560"/>
            <a:ext cx="266347" cy="266347"/>
          </a:xfrm>
          <a:prstGeom prst="rect">
            <a:avLst/>
          </a:prstGeom>
        </p:spPr>
      </p:pic>
      <p:sp>
        <p:nvSpPr>
          <p:cNvPr id="64" name="직사각형 63">
            <a:extLst>
              <a:ext uri="{FF2B5EF4-FFF2-40B4-BE49-F238E27FC236}">
                <a16:creationId xmlns:a16="http://schemas.microsoft.com/office/drawing/2014/main" id="{8726FF95-C1EE-41C9-98DD-6B2E0C951985}"/>
              </a:ext>
            </a:extLst>
          </p:cNvPr>
          <p:cNvSpPr/>
          <p:nvPr/>
        </p:nvSpPr>
        <p:spPr>
          <a:xfrm>
            <a:off x="3041244" y="3291855"/>
            <a:ext cx="12955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{{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적용분야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2}}</a:t>
            </a:r>
            <a:endParaRPr lang="ko-KR" altLang="en-US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E295867-EA30-4B2E-94A0-BC8DADB6245D}"/>
              </a:ext>
            </a:extLst>
          </p:cNvPr>
          <p:cNvSpPr/>
          <p:nvPr/>
        </p:nvSpPr>
        <p:spPr>
          <a:xfrm>
            <a:off x="1799141" y="2789405"/>
            <a:ext cx="7320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{{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아이콘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1}}</a:t>
            </a:r>
            <a:endParaRPr lang="ko-KR" altLang="en-US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A0E879B-7A7E-4A7E-A0D1-ECC94F62F0F6}"/>
              </a:ext>
            </a:extLst>
          </p:cNvPr>
          <p:cNvSpPr/>
          <p:nvPr/>
        </p:nvSpPr>
        <p:spPr>
          <a:xfrm>
            <a:off x="3343040" y="2789405"/>
            <a:ext cx="7320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{{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아이콘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2}}</a:t>
            </a:r>
            <a:endParaRPr lang="ko-KR" altLang="en-US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B8941F9-FF5A-412A-B0B9-FB2D3620C4E9}"/>
              </a:ext>
            </a:extLst>
          </p:cNvPr>
          <p:cNvSpPr/>
          <p:nvPr/>
        </p:nvSpPr>
        <p:spPr>
          <a:xfrm>
            <a:off x="4854071" y="2789405"/>
            <a:ext cx="7320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{{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아이콘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3}}</a:t>
            </a:r>
            <a:endParaRPr lang="ko-KR" altLang="en-US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A26430-FA9E-4CBA-B134-D77B3224B16A}"/>
              </a:ext>
            </a:extLst>
          </p:cNvPr>
          <p:cNvSpPr txBox="1"/>
          <p:nvPr/>
        </p:nvSpPr>
        <p:spPr>
          <a:xfrm>
            <a:off x="1508065" y="5203354"/>
            <a:ext cx="1308742" cy="294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900" dirty="0">
                <a:solidFill>
                  <a:schemeClr val="bg2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{{[</a:t>
            </a:r>
            <a:r>
              <a:rPr lang="ko-KR" altLang="en-US" sz="900">
                <a:solidFill>
                  <a:schemeClr val="bg2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대표이미지</a:t>
            </a:r>
            <a:r>
              <a:rPr lang="en-US" altLang="ko-KR" sz="900" dirty="0">
                <a:solidFill>
                  <a:schemeClr val="bg2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]}}</a:t>
            </a:r>
            <a:endParaRPr lang="ko-KR" altLang="en-US" sz="900" dirty="0">
              <a:solidFill>
                <a:schemeClr val="bg2">
                  <a:lumMod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09BBF8-EABC-4149-A44A-5554CC5109D8}"/>
              </a:ext>
            </a:extLst>
          </p:cNvPr>
          <p:cNvSpPr txBox="1"/>
          <p:nvPr/>
        </p:nvSpPr>
        <p:spPr>
          <a:xfrm>
            <a:off x="3109117" y="3934729"/>
            <a:ext cx="3628233" cy="967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ts val="1500"/>
              </a:lnSpc>
              <a:spcAft>
                <a:spcPts val="300"/>
              </a:spcAft>
            </a:pP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‣ {{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본문 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1}}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62626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fontAlgn="base" latinLnBrk="1">
              <a:lnSpc>
                <a:spcPts val="1500"/>
              </a:lnSpc>
              <a:spcAft>
                <a:spcPts val="300"/>
              </a:spcAft>
            </a:pP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‣ {{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본문 </a:t>
            </a:r>
            <a:r>
              <a:rPr lang="en-US" altLang="ko-KR" sz="1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2}}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fontAlgn="base" latinLnBrk="1">
              <a:lnSpc>
                <a:spcPts val="1500"/>
              </a:lnSpc>
              <a:spcAft>
                <a:spcPts val="300"/>
              </a:spcAft>
            </a:pP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‣ {{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본문 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3}}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62626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fontAlgn="base" latinLnBrk="1">
              <a:lnSpc>
                <a:spcPts val="1500"/>
              </a:lnSpc>
              <a:spcAft>
                <a:spcPts val="300"/>
              </a:spcAft>
            </a:pP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5A75BD2-C73E-41B8-AE60-D7BF6034BB26}"/>
              </a:ext>
            </a:extLst>
          </p:cNvPr>
          <p:cNvSpPr/>
          <p:nvPr/>
        </p:nvSpPr>
        <p:spPr>
          <a:xfrm>
            <a:off x="2022525" y="5738795"/>
            <a:ext cx="3643413" cy="28113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113F0048-4595-4C40-82BB-577DA9DF75DB}"/>
              </a:ext>
            </a:extLst>
          </p:cNvPr>
          <p:cNvGrpSpPr/>
          <p:nvPr/>
        </p:nvGrpSpPr>
        <p:grpSpPr>
          <a:xfrm>
            <a:off x="5550817" y="5524354"/>
            <a:ext cx="1146097" cy="666867"/>
            <a:chOff x="7557852" y="1529932"/>
            <a:chExt cx="2441759" cy="1420759"/>
          </a:xfrm>
        </p:grpSpPr>
        <p:grpSp>
          <p:nvGrpSpPr>
            <p:cNvPr id="73" name="그룹 1006">
              <a:extLst>
                <a:ext uri="{FF2B5EF4-FFF2-40B4-BE49-F238E27FC236}">
                  <a16:creationId xmlns:a16="http://schemas.microsoft.com/office/drawing/2014/main" id="{2967C1C3-E6B7-4A81-96B0-9FFD9CB506D1}"/>
                </a:ext>
              </a:extLst>
            </p:cNvPr>
            <p:cNvGrpSpPr/>
            <p:nvPr/>
          </p:nvGrpSpPr>
          <p:grpSpPr>
            <a:xfrm>
              <a:off x="8578852" y="1529932"/>
              <a:ext cx="1420759" cy="1420759"/>
              <a:chOff x="8578852" y="1529932"/>
              <a:chExt cx="1420759" cy="1420759"/>
            </a:xfrm>
          </p:grpSpPr>
          <p:grpSp>
            <p:nvGrpSpPr>
              <p:cNvPr id="76" name="그룹 1007">
                <a:extLst>
                  <a:ext uri="{FF2B5EF4-FFF2-40B4-BE49-F238E27FC236}">
                    <a16:creationId xmlns:a16="http://schemas.microsoft.com/office/drawing/2014/main" id="{06334BEF-F472-40CC-B9CE-358BC2A80CA2}"/>
                  </a:ext>
                </a:extLst>
              </p:cNvPr>
              <p:cNvGrpSpPr/>
              <p:nvPr/>
            </p:nvGrpSpPr>
            <p:grpSpPr>
              <a:xfrm>
                <a:off x="8578852" y="1529932"/>
                <a:ext cx="1420759" cy="1420759"/>
                <a:chOff x="8578852" y="1529932"/>
                <a:chExt cx="1420759" cy="1420759"/>
              </a:xfrm>
            </p:grpSpPr>
            <p:pic>
              <p:nvPicPr>
                <p:cNvPr id="81" name="Object 18">
                  <a:extLst>
                    <a:ext uri="{FF2B5EF4-FFF2-40B4-BE49-F238E27FC236}">
                      <a16:creationId xmlns:a16="http://schemas.microsoft.com/office/drawing/2014/main" id="{3CC53EED-3C52-4993-B1CE-1F1B6A2DFA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8578852" y="1529932"/>
                  <a:ext cx="1420759" cy="1420759"/>
                </a:xfrm>
                <a:prstGeom prst="rect">
                  <a:avLst/>
                </a:prstGeom>
              </p:spPr>
            </p:pic>
          </p:grpSp>
          <p:grpSp>
            <p:nvGrpSpPr>
              <p:cNvPr id="77" name="그룹 1008">
                <a:extLst>
                  <a:ext uri="{FF2B5EF4-FFF2-40B4-BE49-F238E27FC236}">
                    <a16:creationId xmlns:a16="http://schemas.microsoft.com/office/drawing/2014/main" id="{C021714B-3ACC-4221-B1F4-1386286D2AA9}"/>
                  </a:ext>
                </a:extLst>
              </p:cNvPr>
              <p:cNvGrpSpPr/>
              <p:nvPr/>
            </p:nvGrpSpPr>
            <p:grpSpPr>
              <a:xfrm>
                <a:off x="8737698" y="1688778"/>
                <a:ext cx="1103067" cy="1103067"/>
                <a:chOff x="8737698" y="1688778"/>
                <a:chExt cx="1103067" cy="1103067"/>
              </a:xfrm>
            </p:grpSpPr>
            <p:pic>
              <p:nvPicPr>
                <p:cNvPr id="80" name="Object 21">
                  <a:extLst>
                    <a:ext uri="{FF2B5EF4-FFF2-40B4-BE49-F238E27FC236}">
                      <a16:creationId xmlns:a16="http://schemas.microsoft.com/office/drawing/2014/main" id="{ED723340-18B6-41EC-8935-6CC92159C8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8737698" y="1688778"/>
                  <a:ext cx="1103067" cy="1103067"/>
                </a:xfrm>
                <a:prstGeom prst="rect">
                  <a:avLst/>
                </a:prstGeom>
              </p:spPr>
            </p:pic>
          </p:grpSp>
          <p:grpSp>
            <p:nvGrpSpPr>
              <p:cNvPr id="78" name="그룹 1009">
                <a:extLst>
                  <a:ext uri="{FF2B5EF4-FFF2-40B4-BE49-F238E27FC236}">
                    <a16:creationId xmlns:a16="http://schemas.microsoft.com/office/drawing/2014/main" id="{14B8C3F2-2C3A-426E-8056-D60D168D319E}"/>
                  </a:ext>
                </a:extLst>
              </p:cNvPr>
              <p:cNvGrpSpPr/>
              <p:nvPr/>
            </p:nvGrpSpPr>
            <p:grpSpPr>
              <a:xfrm>
                <a:off x="8942230" y="1902907"/>
                <a:ext cx="694003" cy="674809"/>
                <a:chOff x="8942230" y="1902907"/>
                <a:chExt cx="694003" cy="674809"/>
              </a:xfrm>
            </p:grpSpPr>
            <p:pic>
              <p:nvPicPr>
                <p:cNvPr id="79" name="Object 24">
                  <a:extLst>
                    <a:ext uri="{FF2B5EF4-FFF2-40B4-BE49-F238E27FC236}">
                      <a16:creationId xmlns:a16="http://schemas.microsoft.com/office/drawing/2014/main" id="{6D9B6C74-226D-45BD-997A-0E5675232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8942230" y="1902907"/>
                  <a:ext cx="694003" cy="67480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4" name="그룹 1011">
              <a:extLst>
                <a:ext uri="{FF2B5EF4-FFF2-40B4-BE49-F238E27FC236}">
                  <a16:creationId xmlns:a16="http://schemas.microsoft.com/office/drawing/2014/main" id="{1056AD97-AD41-4E52-BC1C-9E29C19FD758}"/>
                </a:ext>
              </a:extLst>
            </p:cNvPr>
            <p:cNvGrpSpPr/>
            <p:nvPr/>
          </p:nvGrpSpPr>
          <p:grpSpPr>
            <a:xfrm>
              <a:off x="7557852" y="1916707"/>
              <a:ext cx="2042000" cy="737823"/>
              <a:chOff x="7557852" y="1916707"/>
              <a:chExt cx="2042000" cy="737823"/>
            </a:xfrm>
          </p:grpSpPr>
          <p:pic>
            <p:nvPicPr>
              <p:cNvPr id="75" name="Object 31">
                <a:extLst>
                  <a:ext uri="{FF2B5EF4-FFF2-40B4-BE49-F238E27FC236}">
                    <a16:creationId xmlns:a16="http://schemas.microsoft.com/office/drawing/2014/main" id="{AA527B7C-C2E4-47BE-A0C1-C8E559F47E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7557852" y="1916707"/>
                <a:ext cx="2042000" cy="737823"/>
              </a:xfrm>
              <a:prstGeom prst="rect">
                <a:avLst/>
              </a:prstGeom>
            </p:spPr>
          </p:pic>
        </p:grp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699EECC3-51D3-480E-BEA1-159BAAB34B58}"/>
              </a:ext>
            </a:extLst>
          </p:cNvPr>
          <p:cNvSpPr txBox="1"/>
          <p:nvPr/>
        </p:nvSpPr>
        <p:spPr>
          <a:xfrm>
            <a:off x="3342337" y="5736508"/>
            <a:ext cx="128878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858A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기술 차별성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7A50409F-62AE-48C7-8736-160F305969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431" y="5787469"/>
            <a:ext cx="170866" cy="170866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A0A2899A-5F87-4AE7-B13D-BF0531D5721E}"/>
              </a:ext>
            </a:extLst>
          </p:cNvPr>
          <p:cNvSpPr txBox="1"/>
          <p:nvPr/>
        </p:nvSpPr>
        <p:spPr>
          <a:xfrm>
            <a:off x="5665938" y="5736147"/>
            <a:ext cx="74296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대상기술</a:t>
            </a: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45F03B75-355C-41F9-A046-3A4CE32D16E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532" y="5783945"/>
            <a:ext cx="170866" cy="170866"/>
          </a:xfrm>
          <a:prstGeom prst="rect">
            <a:avLst/>
          </a:prstGeom>
        </p:spPr>
      </p:pic>
      <p:grpSp>
        <p:nvGrpSpPr>
          <p:cNvPr id="86" name="그룹 85">
            <a:extLst>
              <a:ext uri="{FF2B5EF4-FFF2-40B4-BE49-F238E27FC236}">
                <a16:creationId xmlns:a16="http://schemas.microsoft.com/office/drawing/2014/main" id="{D59DDB95-9CD4-4BCF-BFCF-99FE6922DBB6}"/>
              </a:ext>
            </a:extLst>
          </p:cNvPr>
          <p:cNvGrpSpPr/>
          <p:nvPr/>
        </p:nvGrpSpPr>
        <p:grpSpPr>
          <a:xfrm>
            <a:off x="986875" y="5541154"/>
            <a:ext cx="1161831" cy="683315"/>
            <a:chOff x="1298825" y="1575239"/>
            <a:chExt cx="2415693" cy="1420759"/>
          </a:xfrm>
        </p:grpSpPr>
        <p:grpSp>
          <p:nvGrpSpPr>
            <p:cNvPr id="87" name="그룹 1002">
              <a:extLst>
                <a:ext uri="{FF2B5EF4-FFF2-40B4-BE49-F238E27FC236}">
                  <a16:creationId xmlns:a16="http://schemas.microsoft.com/office/drawing/2014/main" id="{35231291-8F72-4043-B236-673EF6806F48}"/>
                </a:ext>
              </a:extLst>
            </p:cNvPr>
            <p:cNvGrpSpPr/>
            <p:nvPr/>
          </p:nvGrpSpPr>
          <p:grpSpPr>
            <a:xfrm>
              <a:off x="1298825" y="1575239"/>
              <a:ext cx="1420759" cy="1420759"/>
              <a:chOff x="1298825" y="1575239"/>
              <a:chExt cx="1420759" cy="1420759"/>
            </a:xfrm>
          </p:grpSpPr>
          <p:grpSp>
            <p:nvGrpSpPr>
              <p:cNvPr id="90" name="그룹 1003">
                <a:extLst>
                  <a:ext uri="{FF2B5EF4-FFF2-40B4-BE49-F238E27FC236}">
                    <a16:creationId xmlns:a16="http://schemas.microsoft.com/office/drawing/2014/main" id="{A7B6C888-D2A2-47D4-980C-20EDC076D9F5}"/>
                  </a:ext>
                </a:extLst>
              </p:cNvPr>
              <p:cNvGrpSpPr/>
              <p:nvPr/>
            </p:nvGrpSpPr>
            <p:grpSpPr>
              <a:xfrm>
                <a:off x="1298825" y="1575239"/>
                <a:ext cx="1420759" cy="1420759"/>
                <a:chOff x="1298825" y="1575239"/>
                <a:chExt cx="1420759" cy="1420759"/>
              </a:xfrm>
            </p:grpSpPr>
            <p:pic>
              <p:nvPicPr>
                <p:cNvPr id="95" name="Object 7">
                  <a:extLst>
                    <a:ext uri="{FF2B5EF4-FFF2-40B4-BE49-F238E27FC236}">
                      <a16:creationId xmlns:a16="http://schemas.microsoft.com/office/drawing/2014/main" id="{93C36632-A8BF-4D08-98B3-01048B3EE6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print"/>
                <a:stretch>
                  <a:fillRect/>
                </a:stretch>
              </p:blipFill>
              <p:spPr>
                <a:xfrm>
                  <a:off x="1298825" y="1575239"/>
                  <a:ext cx="1420759" cy="1420759"/>
                </a:xfrm>
                <a:prstGeom prst="rect">
                  <a:avLst/>
                </a:prstGeom>
              </p:spPr>
            </p:pic>
          </p:grpSp>
          <p:grpSp>
            <p:nvGrpSpPr>
              <p:cNvPr id="91" name="그룹 1004">
                <a:extLst>
                  <a:ext uri="{FF2B5EF4-FFF2-40B4-BE49-F238E27FC236}">
                    <a16:creationId xmlns:a16="http://schemas.microsoft.com/office/drawing/2014/main" id="{277C4346-7482-4BA0-A781-C95807C2C746}"/>
                  </a:ext>
                </a:extLst>
              </p:cNvPr>
              <p:cNvGrpSpPr/>
              <p:nvPr/>
            </p:nvGrpSpPr>
            <p:grpSpPr>
              <a:xfrm>
                <a:off x="1457672" y="1734085"/>
                <a:ext cx="1103067" cy="1103067"/>
                <a:chOff x="1457672" y="1734085"/>
                <a:chExt cx="1103067" cy="1103067"/>
              </a:xfrm>
            </p:grpSpPr>
            <p:pic>
              <p:nvPicPr>
                <p:cNvPr id="94" name="Object 10">
                  <a:extLst>
                    <a:ext uri="{FF2B5EF4-FFF2-40B4-BE49-F238E27FC236}">
                      <a16:creationId xmlns:a16="http://schemas.microsoft.com/office/drawing/2014/main" id="{2B61872B-7B77-49F6-B4C5-A25CF7C63D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1457672" y="1734085"/>
                  <a:ext cx="1103067" cy="1103067"/>
                </a:xfrm>
                <a:prstGeom prst="rect">
                  <a:avLst/>
                </a:prstGeom>
              </p:spPr>
            </p:pic>
          </p:grpSp>
          <p:grpSp>
            <p:nvGrpSpPr>
              <p:cNvPr id="92" name="그룹 1005">
                <a:extLst>
                  <a:ext uri="{FF2B5EF4-FFF2-40B4-BE49-F238E27FC236}">
                    <a16:creationId xmlns:a16="http://schemas.microsoft.com/office/drawing/2014/main" id="{FE7CD7BF-E043-47E8-A75C-94CB7CA2ED0A}"/>
                  </a:ext>
                </a:extLst>
              </p:cNvPr>
              <p:cNvGrpSpPr/>
              <p:nvPr/>
            </p:nvGrpSpPr>
            <p:grpSpPr>
              <a:xfrm>
                <a:off x="1662204" y="1948214"/>
                <a:ext cx="694003" cy="674809"/>
                <a:chOff x="1662204" y="1948214"/>
                <a:chExt cx="694003" cy="674809"/>
              </a:xfrm>
            </p:grpSpPr>
            <p:pic>
              <p:nvPicPr>
                <p:cNvPr id="93" name="Object 13">
                  <a:extLst>
                    <a:ext uri="{FF2B5EF4-FFF2-40B4-BE49-F238E27FC236}">
                      <a16:creationId xmlns:a16="http://schemas.microsoft.com/office/drawing/2014/main" id="{4EE89572-9A6A-49B2-B4B0-A98B8ED30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print"/>
                <a:stretch>
                  <a:fillRect/>
                </a:stretch>
              </p:blipFill>
              <p:spPr>
                <a:xfrm>
                  <a:off x="1662204" y="1948214"/>
                  <a:ext cx="694003" cy="67480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8" name="그룹 1010">
              <a:extLst>
                <a:ext uri="{FF2B5EF4-FFF2-40B4-BE49-F238E27FC236}">
                  <a16:creationId xmlns:a16="http://schemas.microsoft.com/office/drawing/2014/main" id="{FC078160-5E83-45EE-B4A1-A451611E9E01}"/>
                </a:ext>
              </a:extLst>
            </p:cNvPr>
            <p:cNvGrpSpPr/>
            <p:nvPr/>
          </p:nvGrpSpPr>
          <p:grpSpPr>
            <a:xfrm>
              <a:off x="1672518" y="1916707"/>
              <a:ext cx="2042000" cy="737823"/>
              <a:chOff x="1672518" y="1916707"/>
              <a:chExt cx="2042000" cy="737823"/>
            </a:xfrm>
          </p:grpSpPr>
          <p:pic>
            <p:nvPicPr>
              <p:cNvPr id="89" name="Object 28">
                <a:extLst>
                  <a:ext uri="{FF2B5EF4-FFF2-40B4-BE49-F238E27FC236}">
                    <a16:creationId xmlns:a16="http://schemas.microsoft.com/office/drawing/2014/main" id="{C313D16C-7B74-4C17-8F8C-A6E029052C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672518" y="1916707"/>
                <a:ext cx="2042000" cy="737823"/>
              </a:xfrm>
              <a:prstGeom prst="rect">
                <a:avLst/>
              </a:prstGeom>
            </p:spPr>
          </p:pic>
        </p:grp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20F0CFB5-FCC2-488F-BA06-116AA11817FD}"/>
              </a:ext>
            </a:extLst>
          </p:cNvPr>
          <p:cNvSpPr txBox="1"/>
          <p:nvPr/>
        </p:nvSpPr>
        <p:spPr>
          <a:xfrm>
            <a:off x="1309650" y="5747132"/>
            <a:ext cx="74296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기존기술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7B147DB5-E8A7-40BF-97BC-523ABA862765}"/>
              </a:ext>
            </a:extLst>
          </p:cNvPr>
          <p:cNvCxnSpPr>
            <a:cxnSpLocks/>
            <a:endCxn id="111" idx="0"/>
          </p:cNvCxnSpPr>
          <p:nvPr/>
        </p:nvCxnSpPr>
        <p:spPr>
          <a:xfrm flipH="1">
            <a:off x="3848418" y="6149466"/>
            <a:ext cx="17000" cy="2167951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C68B15FF-EDED-4EC5-AFB5-0C20759633E1}"/>
              </a:ext>
            </a:extLst>
          </p:cNvPr>
          <p:cNvSpPr/>
          <p:nvPr/>
        </p:nvSpPr>
        <p:spPr>
          <a:xfrm>
            <a:off x="1041155" y="6352598"/>
            <a:ext cx="90000" cy="900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B5F5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2245DCB2-0157-40D3-8BF9-FC57CB30D955}"/>
              </a:ext>
            </a:extLst>
          </p:cNvPr>
          <p:cNvSpPr/>
          <p:nvPr/>
        </p:nvSpPr>
        <p:spPr>
          <a:xfrm>
            <a:off x="3981303" y="6336357"/>
            <a:ext cx="90000" cy="90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1933411-1599-4484-BD1A-F3FC6A90E0AD}"/>
              </a:ext>
            </a:extLst>
          </p:cNvPr>
          <p:cNvSpPr txBox="1"/>
          <p:nvPr/>
        </p:nvSpPr>
        <p:spPr>
          <a:xfrm>
            <a:off x="1120594" y="6251817"/>
            <a:ext cx="2805479" cy="27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ts val="1500"/>
              </a:lnSpc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{{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기존기술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1}}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736D15E-AE36-40DD-B44D-4CC0C5E0186D}"/>
              </a:ext>
            </a:extLst>
          </p:cNvPr>
          <p:cNvSpPr txBox="1"/>
          <p:nvPr/>
        </p:nvSpPr>
        <p:spPr>
          <a:xfrm>
            <a:off x="4071303" y="6233753"/>
            <a:ext cx="2805479" cy="27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ts val="1500"/>
              </a:lnSpc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{{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기술차별성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1}}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C515999E-15C3-4F82-98B6-BB330E42AC92}"/>
              </a:ext>
            </a:extLst>
          </p:cNvPr>
          <p:cNvSpPr/>
          <p:nvPr/>
        </p:nvSpPr>
        <p:spPr>
          <a:xfrm>
            <a:off x="1041155" y="6890963"/>
            <a:ext cx="90000" cy="90000"/>
          </a:xfrm>
          <a:prstGeom prst="ellipse">
            <a:avLst/>
          </a:prstGeom>
          <a:solidFill>
            <a:srgbClr val="0070C0"/>
          </a:solidFill>
          <a:ln w="38100">
            <a:solidFill>
              <a:srgbClr val="B5F5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87E0785-9647-4374-8481-E4C7476E6F9E}"/>
              </a:ext>
            </a:extLst>
          </p:cNvPr>
          <p:cNvSpPr txBox="1"/>
          <p:nvPr/>
        </p:nvSpPr>
        <p:spPr>
          <a:xfrm>
            <a:off x="1120594" y="6790182"/>
            <a:ext cx="2805479" cy="27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ts val="1500"/>
              </a:lnSpc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{{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기존기술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2}}</a:t>
            </a: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02AF428E-6FF3-49BB-9BB5-8E949FF80ECB}"/>
              </a:ext>
            </a:extLst>
          </p:cNvPr>
          <p:cNvSpPr/>
          <p:nvPr/>
        </p:nvSpPr>
        <p:spPr>
          <a:xfrm>
            <a:off x="3988647" y="6907049"/>
            <a:ext cx="90000" cy="90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1969348-DF32-4684-B473-941DF3873986}"/>
              </a:ext>
            </a:extLst>
          </p:cNvPr>
          <p:cNvSpPr txBox="1"/>
          <p:nvPr/>
        </p:nvSpPr>
        <p:spPr>
          <a:xfrm>
            <a:off x="4078647" y="6804445"/>
            <a:ext cx="2805479" cy="27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ts val="1500"/>
              </a:lnSpc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{{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기술차별성 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2}}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BEE8FFF-FE2A-4620-8E61-22C3F7DC14CF}"/>
              </a:ext>
            </a:extLst>
          </p:cNvPr>
          <p:cNvSpPr txBox="1"/>
          <p:nvPr/>
        </p:nvSpPr>
        <p:spPr>
          <a:xfrm>
            <a:off x="992391" y="7551238"/>
            <a:ext cx="2861990" cy="22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ts val="1000"/>
              </a:lnSpc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‣ {{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기술적한계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1}}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110BAD4-6B44-49C6-A81F-C4FAA8DE9413}"/>
              </a:ext>
            </a:extLst>
          </p:cNvPr>
          <p:cNvSpPr/>
          <p:nvPr/>
        </p:nvSpPr>
        <p:spPr>
          <a:xfrm>
            <a:off x="946261" y="9397036"/>
            <a:ext cx="263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부산대학교 산학협력단 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OOO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차장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(OO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박사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7E6A7C6-4F07-4C63-82C6-B8064C1F95EF}"/>
              </a:ext>
            </a:extLst>
          </p:cNvPr>
          <p:cNvSpPr txBox="1"/>
          <p:nvPr/>
        </p:nvSpPr>
        <p:spPr>
          <a:xfrm>
            <a:off x="5562752" y="9422041"/>
            <a:ext cx="1295248" cy="2366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ts val="1108"/>
              </a:lnSpc>
            </a:pP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051. 510. OOOO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EFBA5E1-6ACD-4E57-AE38-312DDDEA55DC}"/>
              </a:ext>
            </a:extLst>
          </p:cNvPr>
          <p:cNvSpPr txBox="1"/>
          <p:nvPr/>
        </p:nvSpPr>
        <p:spPr>
          <a:xfrm>
            <a:off x="3942624" y="9397034"/>
            <a:ext cx="13985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OOO@pusan.ac.kr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E0E85719-4CF5-4D6E-81B9-DAC03948B92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066" y="9414766"/>
            <a:ext cx="218451" cy="218451"/>
          </a:xfrm>
          <a:prstGeom prst="rect">
            <a:avLst/>
          </a:prstGeom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B90EB6F9-EDC7-41D5-B251-B6B8954463E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967" y="9407338"/>
            <a:ext cx="224589" cy="224589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B37B8A-233A-4488-B8EE-3C7C8336AA30}"/>
              </a:ext>
            </a:extLst>
          </p:cNvPr>
          <p:cNvCxnSpPr>
            <a:cxnSpLocks/>
          </p:cNvCxnSpPr>
          <p:nvPr/>
        </p:nvCxnSpPr>
        <p:spPr>
          <a:xfrm flipH="1">
            <a:off x="1048055" y="7465883"/>
            <a:ext cx="2752915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5BEB080E-D7FF-429E-8A3D-7C094D9E5A97}"/>
              </a:ext>
            </a:extLst>
          </p:cNvPr>
          <p:cNvCxnSpPr>
            <a:cxnSpLocks/>
          </p:cNvCxnSpPr>
          <p:nvPr/>
        </p:nvCxnSpPr>
        <p:spPr>
          <a:xfrm flipH="1">
            <a:off x="3926073" y="7465347"/>
            <a:ext cx="2752915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3E7612D5-37D5-4B0E-B5C0-B740108D9997}"/>
              </a:ext>
            </a:extLst>
          </p:cNvPr>
          <p:cNvSpPr/>
          <p:nvPr/>
        </p:nvSpPr>
        <p:spPr>
          <a:xfrm>
            <a:off x="1041155" y="7408318"/>
            <a:ext cx="527295" cy="133342"/>
          </a:xfrm>
          <a:prstGeom prst="rect">
            <a:avLst/>
          </a:prstGeom>
          <a:solidFill>
            <a:srgbClr val="91D2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6452AD6-EDF2-458B-AB3C-22988238B7C8}"/>
              </a:ext>
            </a:extLst>
          </p:cNvPr>
          <p:cNvSpPr txBox="1"/>
          <p:nvPr/>
        </p:nvSpPr>
        <p:spPr>
          <a:xfrm>
            <a:off x="963486" y="7290071"/>
            <a:ext cx="727019" cy="28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ko-KR" altLang="en-US" sz="7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기술적 한계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34E9A467-EFAE-4DBE-9BC5-1012A8357A6D}"/>
              </a:ext>
            </a:extLst>
          </p:cNvPr>
          <p:cNvSpPr/>
          <p:nvPr/>
        </p:nvSpPr>
        <p:spPr>
          <a:xfrm>
            <a:off x="3926749" y="7415845"/>
            <a:ext cx="527295" cy="133342"/>
          </a:xfrm>
          <a:prstGeom prst="rect">
            <a:avLst/>
          </a:prstGeom>
          <a:solidFill>
            <a:srgbClr val="5EA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0A88AD1-1FF4-4137-AC69-4F9C0E9FA759}"/>
              </a:ext>
            </a:extLst>
          </p:cNvPr>
          <p:cNvSpPr txBox="1"/>
          <p:nvPr/>
        </p:nvSpPr>
        <p:spPr>
          <a:xfrm>
            <a:off x="3843344" y="7297128"/>
            <a:ext cx="722727" cy="28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ko-KR" altLang="en-US" sz="7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기술적 우위</a:t>
            </a: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8B541BA6-E4B3-4B1D-9B64-EFFE35D7D9F9}"/>
              </a:ext>
            </a:extLst>
          </p:cNvPr>
          <p:cNvGrpSpPr/>
          <p:nvPr/>
        </p:nvGrpSpPr>
        <p:grpSpPr>
          <a:xfrm>
            <a:off x="196511" y="8311321"/>
            <a:ext cx="1134978" cy="823149"/>
            <a:chOff x="196511" y="8181781"/>
            <a:chExt cx="1134978" cy="823149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564889C-E401-48A2-B873-637CA06AE959}"/>
                </a:ext>
              </a:extLst>
            </p:cNvPr>
            <p:cNvSpPr txBox="1"/>
            <p:nvPr/>
          </p:nvSpPr>
          <p:spPr>
            <a:xfrm>
              <a:off x="196511" y="8266266"/>
              <a:ext cx="113497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2858A3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지식</a:t>
              </a:r>
              <a:endParaRPr lang="en-US" altLang="ko-KR" sz="1400" dirty="0">
                <a:solidFill>
                  <a:srgbClr val="2858A3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  <a:p>
              <a:r>
                <a:rPr lang="ko-KR" altLang="en-US" sz="1400" dirty="0">
                  <a:solidFill>
                    <a:srgbClr val="2858A3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재산권</a:t>
              </a:r>
              <a:endParaRPr lang="en-US" altLang="ko-KR" sz="1400" dirty="0">
                <a:solidFill>
                  <a:srgbClr val="2858A3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  <a:p>
              <a:r>
                <a:rPr lang="ko-KR" altLang="en-US" sz="1400" dirty="0">
                  <a:solidFill>
                    <a:srgbClr val="2858A3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현황</a:t>
              </a:r>
            </a:p>
          </p:txBody>
        </p: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95AB2E97-4749-4A94-9884-5495D4414633}"/>
                </a:ext>
              </a:extLst>
            </p:cNvPr>
            <p:cNvCxnSpPr>
              <a:cxnSpLocks/>
            </p:cNvCxnSpPr>
            <p:nvPr/>
          </p:nvCxnSpPr>
          <p:spPr>
            <a:xfrm>
              <a:off x="290980" y="8181781"/>
              <a:ext cx="334049" cy="0"/>
            </a:xfrm>
            <a:prstGeom prst="line">
              <a:avLst/>
            </a:prstGeom>
            <a:ln w="28575">
              <a:solidFill>
                <a:srgbClr val="2858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89B0E08D-509E-4C7B-9DE7-C1BC894C0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095356"/>
              </p:ext>
            </p:extLst>
          </p:nvPr>
        </p:nvGraphicFramePr>
        <p:xfrm>
          <a:off x="1041155" y="8317417"/>
          <a:ext cx="5614526" cy="9378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4464">
                  <a:extLst>
                    <a:ext uri="{9D8B030D-6E8A-4147-A177-3AD203B41FA5}">
                      <a16:colId xmlns:a16="http://schemas.microsoft.com/office/drawing/2014/main" val="3751025474"/>
                    </a:ext>
                  </a:extLst>
                </a:gridCol>
                <a:gridCol w="1723037">
                  <a:extLst>
                    <a:ext uri="{9D8B030D-6E8A-4147-A177-3AD203B41FA5}">
                      <a16:colId xmlns:a16="http://schemas.microsoft.com/office/drawing/2014/main" val="2423031240"/>
                    </a:ext>
                  </a:extLst>
                </a:gridCol>
                <a:gridCol w="1877025">
                  <a:extLst>
                    <a:ext uri="{9D8B030D-6E8A-4147-A177-3AD203B41FA5}">
                      <a16:colId xmlns:a16="http://schemas.microsoft.com/office/drawing/2014/main" val="1082947623"/>
                    </a:ext>
                  </a:extLst>
                </a:gridCol>
              </a:tblGrid>
              <a:tr h="306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발명의 명칭</a:t>
                      </a:r>
                    </a:p>
                  </a:txBody>
                  <a:tcPr marL="84406" marR="84406" marT="42204" marB="4220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출원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등록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번호</a:t>
                      </a:r>
                    </a:p>
                  </a:txBody>
                  <a:tcPr marL="84406" marR="84406" marT="42204" marB="42204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출원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등록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일자</a:t>
                      </a:r>
                    </a:p>
                  </a:txBody>
                  <a:tcPr marL="84406" marR="84406" marT="42204" marB="42204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56059"/>
                  </a:ext>
                </a:extLst>
              </a:tr>
              <a:tr h="631244"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{{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발명의 명칭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}}</a:t>
                      </a:r>
                    </a:p>
                  </a:txBody>
                  <a:tcPr marL="84406" marR="84406" marT="42204" marB="4220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{{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출원</a:t>
                      </a:r>
                      <a:r>
                        <a:rPr lang="en-US" altLang="ko-KR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등록</a:t>
                      </a:r>
                      <a:r>
                        <a:rPr lang="en-US" altLang="ko-KR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번호</a:t>
                      </a:r>
                      <a:r>
                        <a:rPr lang="en-US" altLang="ko-KR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}}</a:t>
                      </a:r>
                    </a:p>
                  </a:txBody>
                  <a:tcPr marL="84406" marR="84406" marT="42204" marB="42204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{{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출원</a:t>
                      </a:r>
                      <a:r>
                        <a:rPr lang="en-US" altLang="ko-KR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등록</a:t>
                      </a:r>
                      <a:r>
                        <a:rPr lang="en-US" altLang="ko-KR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일자</a:t>
                      </a:r>
                      <a:r>
                        <a:rPr lang="en-US" altLang="ko-KR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}}</a:t>
                      </a:r>
                    </a:p>
                  </a:txBody>
                  <a:tcPr marL="84406" marR="84406" marT="42204" marB="42204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1872063"/>
                  </a:ext>
                </a:extLst>
              </a:tr>
            </a:tbl>
          </a:graphicData>
        </a:graphic>
      </p:graphicFrame>
      <p:sp>
        <p:nvSpPr>
          <p:cNvPr id="117" name="TextBox 116">
            <a:extLst>
              <a:ext uri="{FF2B5EF4-FFF2-40B4-BE49-F238E27FC236}">
                <a16:creationId xmlns:a16="http://schemas.microsoft.com/office/drawing/2014/main" id="{CF96CDBD-0472-43A1-9461-4024B9D3BB44}"/>
              </a:ext>
            </a:extLst>
          </p:cNvPr>
          <p:cNvSpPr txBox="1"/>
          <p:nvPr/>
        </p:nvSpPr>
        <p:spPr>
          <a:xfrm>
            <a:off x="3834924" y="7566216"/>
            <a:ext cx="2861990" cy="22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ts val="1000"/>
              </a:lnSpc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‣ {{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기술적우위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1}}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3102105-1CE0-47B7-987F-9FA8F3199387}"/>
              </a:ext>
            </a:extLst>
          </p:cNvPr>
          <p:cNvSpPr txBox="1"/>
          <p:nvPr/>
        </p:nvSpPr>
        <p:spPr>
          <a:xfrm>
            <a:off x="997111" y="7851907"/>
            <a:ext cx="34409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‣ {{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기술적한계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2}}</a:t>
            </a:r>
            <a:endParaRPr lang="ko-KR" altLang="en-US" sz="9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B18670B-20E1-4FCF-8B0A-39A16D2F208C}"/>
              </a:ext>
            </a:extLst>
          </p:cNvPr>
          <p:cNvSpPr txBox="1"/>
          <p:nvPr/>
        </p:nvSpPr>
        <p:spPr>
          <a:xfrm>
            <a:off x="3843291" y="7869218"/>
            <a:ext cx="1095163" cy="22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lnSpc>
                <a:spcPts val="1000"/>
              </a:lnSpc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‣ {{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기술적우위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2}}</a:t>
            </a:r>
            <a:endParaRPr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7290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171</Words>
  <Application>Microsoft Office PowerPoint</Application>
  <PresentationFormat>A4 용지(210x297mm)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KoPub돋움체 Bold</vt:lpstr>
      <vt:lpstr>KoPub돋움체 Medium</vt:lpstr>
      <vt:lpstr>에스코어 드림 4 Regular</vt:lpstr>
      <vt:lpstr>에스코어 드림 5 Medium</vt:lpstr>
      <vt:lpstr>에스코어 드림 6 Bold</vt:lpstr>
      <vt:lpstr>에스코어 드림 8 Heavy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PNUTLO1</dc:creator>
  <cp:lastModifiedBy>pnutlo</cp:lastModifiedBy>
  <cp:revision>11</cp:revision>
  <dcterms:created xsi:type="dcterms:W3CDTF">2023-10-20T01:52:44Z</dcterms:created>
  <dcterms:modified xsi:type="dcterms:W3CDTF">2026-02-23T06:37:03Z</dcterms:modified>
</cp:coreProperties>
</file>